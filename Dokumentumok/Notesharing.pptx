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Balabeloo" charset="1" panose="00000500000000000000"/>
      <p:regular r:id="rId14"/>
    </p:embeddedFont>
    <p:embeddedFont>
      <p:font typeface="Jet" charset="1" panose="02060603050605020204"/>
      <p:regular r:id="rId15"/>
    </p:embeddedFont>
    <p:embeddedFont>
      <p:font typeface="Fredoka" charset="1" panose="02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25.png" Type="http://schemas.openxmlformats.org/officeDocument/2006/relationships/image"/><Relationship Id="rId19" Target="../media/image26.svg" Type="http://schemas.openxmlformats.org/officeDocument/2006/relationships/image"/><Relationship Id="rId2" Target="../media/image1.png" Type="http://schemas.openxmlformats.org/officeDocument/2006/relationships/image"/><Relationship Id="rId20" Target="../media/image27.png" Type="http://schemas.openxmlformats.org/officeDocument/2006/relationships/image"/><Relationship Id="rId21" Target="../media/image28.svg" Type="http://schemas.openxmlformats.org/officeDocument/2006/relationships/image"/><Relationship Id="rId22" Target="../media/image23.png" Type="http://schemas.openxmlformats.org/officeDocument/2006/relationships/image"/><Relationship Id="rId23" Target="../media/image24.svg" Type="http://schemas.openxmlformats.org/officeDocument/2006/relationships/image"/><Relationship Id="rId24" Target="../media/image29.png" Type="http://schemas.openxmlformats.org/officeDocument/2006/relationships/image"/><Relationship Id="rId25" Target="../media/image3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31.png" Type="http://schemas.openxmlformats.org/officeDocument/2006/relationships/image"/><Relationship Id="rId19" Target="../media/image25.png" Type="http://schemas.openxmlformats.org/officeDocument/2006/relationships/image"/><Relationship Id="rId2" Target="../media/image1.png" Type="http://schemas.openxmlformats.org/officeDocument/2006/relationships/image"/><Relationship Id="rId20" Target="../media/image26.svg" Type="http://schemas.openxmlformats.org/officeDocument/2006/relationships/image"/><Relationship Id="rId21" Target="../media/image32.png" Type="http://schemas.openxmlformats.org/officeDocument/2006/relationships/image"/><Relationship Id="rId22" Target="../media/image33.svg" Type="http://schemas.openxmlformats.org/officeDocument/2006/relationships/image"/><Relationship Id="rId23" Target="../media/image34.png" Type="http://schemas.openxmlformats.org/officeDocument/2006/relationships/image"/><Relationship Id="rId24" Target="../media/image35.svg" Type="http://schemas.openxmlformats.org/officeDocument/2006/relationships/image"/><Relationship Id="rId25" Target="../media/image36.png" Type="http://schemas.openxmlformats.org/officeDocument/2006/relationships/image"/><Relationship Id="rId26" Target="../media/image37.svg" Type="http://schemas.openxmlformats.org/officeDocument/2006/relationships/image"/><Relationship Id="rId27" Target="../media/image38.png" Type="http://schemas.openxmlformats.org/officeDocument/2006/relationships/image"/><Relationship Id="rId28" Target="../media/image39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25.png" Type="http://schemas.openxmlformats.org/officeDocument/2006/relationships/image"/><Relationship Id="rId19" Target="../media/image26.svg" Type="http://schemas.openxmlformats.org/officeDocument/2006/relationships/image"/><Relationship Id="rId2" Target="../media/image1.png" Type="http://schemas.openxmlformats.org/officeDocument/2006/relationships/image"/><Relationship Id="rId20" Target="../media/image27.png" Type="http://schemas.openxmlformats.org/officeDocument/2006/relationships/image"/><Relationship Id="rId21" Target="../media/image28.svg" Type="http://schemas.openxmlformats.org/officeDocument/2006/relationships/image"/><Relationship Id="rId22" Target="../media/image23.png" Type="http://schemas.openxmlformats.org/officeDocument/2006/relationships/image"/><Relationship Id="rId23" Target="../media/image24.svg" Type="http://schemas.openxmlformats.org/officeDocument/2006/relationships/image"/><Relationship Id="rId24" Target="../media/image29.png" Type="http://schemas.openxmlformats.org/officeDocument/2006/relationships/image"/><Relationship Id="rId25" Target="../media/image3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40.png" Type="http://schemas.openxmlformats.org/officeDocument/2006/relationships/image"/><Relationship Id="rId19" Target="../media/image41.png" Type="http://schemas.openxmlformats.org/officeDocument/2006/relationships/image"/><Relationship Id="rId2" Target="../media/image1.png" Type="http://schemas.openxmlformats.org/officeDocument/2006/relationships/image"/><Relationship Id="rId20" Target="../media/image42.png" Type="http://schemas.openxmlformats.org/officeDocument/2006/relationships/image"/><Relationship Id="rId21" Target="../media/image43.png" Type="http://schemas.openxmlformats.org/officeDocument/2006/relationships/image"/><Relationship Id="rId22" Target="../media/image44.svg" Type="http://schemas.openxmlformats.org/officeDocument/2006/relationships/image"/><Relationship Id="rId23" Target="../media/image21.png" Type="http://schemas.openxmlformats.org/officeDocument/2006/relationships/image"/><Relationship Id="rId24" Target="../media/image22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31.png" Type="http://schemas.openxmlformats.org/officeDocument/2006/relationships/image"/><Relationship Id="rId19" Target="../media/image38.png" Type="http://schemas.openxmlformats.org/officeDocument/2006/relationships/image"/><Relationship Id="rId2" Target="../media/image1.png" Type="http://schemas.openxmlformats.org/officeDocument/2006/relationships/image"/><Relationship Id="rId20" Target="../media/image39.svg" Type="http://schemas.openxmlformats.org/officeDocument/2006/relationships/image"/><Relationship Id="rId21" Target="../media/image23.png" Type="http://schemas.openxmlformats.org/officeDocument/2006/relationships/image"/><Relationship Id="rId22" Target="../media/image24.svg" Type="http://schemas.openxmlformats.org/officeDocument/2006/relationships/image"/><Relationship Id="rId23" Target="../media/image45.png" Type="http://schemas.openxmlformats.org/officeDocument/2006/relationships/image"/><Relationship Id="rId24" Target="../media/image46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25.png" Type="http://schemas.openxmlformats.org/officeDocument/2006/relationships/image"/><Relationship Id="rId19" Target="../media/image26.svg" Type="http://schemas.openxmlformats.org/officeDocument/2006/relationships/image"/><Relationship Id="rId2" Target="../media/image1.png" Type="http://schemas.openxmlformats.org/officeDocument/2006/relationships/image"/><Relationship Id="rId20" Target="../media/image27.png" Type="http://schemas.openxmlformats.org/officeDocument/2006/relationships/image"/><Relationship Id="rId21" Target="../media/image28.svg" Type="http://schemas.openxmlformats.org/officeDocument/2006/relationships/image"/><Relationship Id="rId22" Target="../media/image23.png" Type="http://schemas.openxmlformats.org/officeDocument/2006/relationships/image"/><Relationship Id="rId23" Target="../media/image24.svg" Type="http://schemas.openxmlformats.org/officeDocument/2006/relationships/image"/><Relationship Id="rId24" Target="../media/image29.png" Type="http://schemas.openxmlformats.org/officeDocument/2006/relationships/image"/><Relationship Id="rId25" Target="../media/image3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551204" y="4370644"/>
            <a:ext cx="13185591" cy="2100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21"/>
              </a:lnSpc>
            </a:pPr>
            <a:r>
              <a:rPr lang="en-US" sz="18745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NOTESHARING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84069" y="6034449"/>
            <a:ext cx="9375601" cy="56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7"/>
              </a:lnSpc>
            </a:pPr>
            <a:r>
              <a:rPr lang="en-US" sz="37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Bojsza Réka, Hajtó Kornél, Fekete Gergő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358453" y="6837026"/>
            <a:ext cx="3571095" cy="32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5"/>
              </a:lnSpc>
            </a:pPr>
            <a:r>
              <a:rPr lang="en-US" sz="2195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Témavezető: Horváth Ádám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2863699" y="789201"/>
            <a:ext cx="13696685" cy="9301506"/>
            <a:chOff x="0" y="0"/>
            <a:chExt cx="18262247" cy="12402008"/>
          </a:xfrm>
        </p:grpSpPr>
        <p:sp>
          <p:nvSpPr>
            <p:cNvPr name="Freeform 16" id="16"/>
            <p:cNvSpPr/>
            <p:nvPr/>
          </p:nvSpPr>
          <p:spPr>
            <a:xfrm flipH="false" flipV="false" rot="439395">
              <a:off x="520002" y="1914401"/>
              <a:ext cx="11031009" cy="8864920"/>
            </a:xfrm>
            <a:custGeom>
              <a:avLst/>
              <a:gdLst/>
              <a:ahLst/>
              <a:cxnLst/>
              <a:rect r="r" b="b" t="t" l="l"/>
              <a:pathLst>
                <a:path h="8864920" w="11031009">
                  <a:moveTo>
                    <a:pt x="0" y="0"/>
                  </a:moveTo>
                  <a:lnTo>
                    <a:pt x="11031009" y="0"/>
                  </a:lnTo>
                  <a:lnTo>
                    <a:pt x="11031009" y="8864920"/>
                  </a:lnTo>
                  <a:lnTo>
                    <a:pt x="0" y="8864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true" flipV="true" rot="1182730">
              <a:off x="7910214" y="4699426"/>
              <a:ext cx="9574899" cy="6271559"/>
            </a:xfrm>
            <a:custGeom>
              <a:avLst/>
              <a:gdLst/>
              <a:ahLst/>
              <a:cxnLst/>
              <a:rect r="r" b="b" t="t" l="l"/>
              <a:pathLst>
                <a:path h="6271559" w="9574899">
                  <a:moveTo>
                    <a:pt x="9574899" y="6271559"/>
                  </a:moveTo>
                  <a:lnTo>
                    <a:pt x="0" y="6271559"/>
                  </a:lnTo>
                  <a:lnTo>
                    <a:pt x="0" y="0"/>
                  </a:lnTo>
                  <a:lnTo>
                    <a:pt x="9574899" y="0"/>
                  </a:lnTo>
                  <a:lnTo>
                    <a:pt x="9574899" y="6271559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674250">
              <a:off x="5225609" y="1028426"/>
              <a:ext cx="7751632" cy="2695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49"/>
                </a:lnSpc>
              </a:pPr>
              <a:r>
                <a:rPr lang="en-US" sz="7627">
                  <a:solidFill>
                    <a:srgbClr val="4F7BC7"/>
                  </a:solidFill>
                  <a:latin typeface="Fredoka"/>
                  <a:ea typeface="Fredoka"/>
                  <a:cs typeface="Fredoka"/>
                  <a:sym typeface="Fredoka"/>
                </a:rPr>
                <a:t>BEVEZETÉS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363471" y="4320417"/>
              <a:ext cx="5839337" cy="3697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74"/>
                </a:lnSpc>
              </a:pPr>
              <a:r>
                <a:rPr lang="en-US" sz="4274">
                  <a:solidFill>
                    <a:srgbClr val="4F7BC7"/>
                  </a:solidFill>
                  <a:latin typeface="Jet"/>
                  <a:ea typeface="Jet"/>
                  <a:cs typeface="Jet"/>
                  <a:sym typeface="Jet"/>
                </a:rPr>
                <a:t>Modern, jegyzet-alapú közösségi média platform diákok és tanárok számára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9797769" y="5741680"/>
              <a:ext cx="5799789" cy="22766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74"/>
                </a:lnSpc>
              </a:pPr>
              <a:r>
                <a:rPr lang="en-US" sz="4274">
                  <a:solidFill>
                    <a:srgbClr val="CAE8FF"/>
                  </a:solidFill>
                  <a:latin typeface="Jet"/>
                  <a:ea typeface="Jet"/>
                  <a:cs typeface="Jet"/>
                  <a:sym typeface="Jet"/>
                </a:rPr>
                <a:t>Tudásmegosztás, együttműködés, közösségi tanulás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16167766" y="5633330"/>
              <a:ext cx="2094481" cy="2137225"/>
            </a:xfrm>
            <a:custGeom>
              <a:avLst/>
              <a:gdLst/>
              <a:ahLst/>
              <a:cxnLst/>
              <a:rect r="r" b="b" t="t" l="l"/>
              <a:pathLst>
                <a:path h="2137225" w="2094481">
                  <a:moveTo>
                    <a:pt x="0" y="0"/>
                  </a:moveTo>
                  <a:lnTo>
                    <a:pt x="2094481" y="0"/>
                  </a:lnTo>
                  <a:lnTo>
                    <a:pt x="2094481" y="2137225"/>
                  </a:lnTo>
                  <a:lnTo>
                    <a:pt x="0" y="2137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780507" y="8342856"/>
              <a:ext cx="2757037" cy="2320924"/>
            </a:xfrm>
            <a:custGeom>
              <a:avLst/>
              <a:gdLst/>
              <a:ahLst/>
              <a:cxnLst/>
              <a:rect r="r" b="b" t="t" l="l"/>
              <a:pathLst>
                <a:path h="2320924" w="2757037">
                  <a:moveTo>
                    <a:pt x="0" y="0"/>
                  </a:moveTo>
                  <a:lnTo>
                    <a:pt x="2757037" y="0"/>
                  </a:lnTo>
                  <a:lnTo>
                    <a:pt x="2757037" y="2320924"/>
                  </a:lnTo>
                  <a:lnTo>
                    <a:pt x="0" y="2320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-3497361">
              <a:off x="8619358" y="3375796"/>
              <a:ext cx="2107415" cy="2154420"/>
            </a:xfrm>
            <a:custGeom>
              <a:avLst/>
              <a:gdLst/>
              <a:ahLst/>
              <a:cxnLst/>
              <a:rect r="r" b="b" t="t" l="l"/>
              <a:pathLst>
                <a:path h="2154420" w="2107415">
                  <a:moveTo>
                    <a:pt x="0" y="0"/>
                  </a:moveTo>
                  <a:lnTo>
                    <a:pt x="2107415" y="0"/>
                  </a:lnTo>
                  <a:lnTo>
                    <a:pt x="2107415" y="2154420"/>
                  </a:lnTo>
                  <a:lnTo>
                    <a:pt x="0" y="21544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213158" y="2544332"/>
              <a:ext cx="1150313" cy="1444457"/>
            </a:xfrm>
            <a:custGeom>
              <a:avLst/>
              <a:gdLst/>
              <a:ahLst/>
              <a:cxnLst/>
              <a:rect r="r" b="b" t="t" l="l"/>
              <a:pathLst>
                <a:path h="1444457" w="1150313">
                  <a:moveTo>
                    <a:pt x="0" y="0"/>
                  </a:moveTo>
                  <a:lnTo>
                    <a:pt x="1150313" y="0"/>
                  </a:lnTo>
                  <a:lnTo>
                    <a:pt x="1150313" y="1444457"/>
                  </a:lnTo>
                  <a:lnTo>
                    <a:pt x="0" y="14444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9683325">
            <a:off x="3132318" y="917142"/>
            <a:ext cx="10009363" cy="8735444"/>
          </a:xfrm>
          <a:custGeom>
            <a:avLst/>
            <a:gdLst/>
            <a:ahLst/>
            <a:cxnLst/>
            <a:rect r="r" b="b" t="t" l="l"/>
            <a:pathLst>
              <a:path h="8735444" w="10009363">
                <a:moveTo>
                  <a:pt x="0" y="0"/>
                </a:moveTo>
                <a:lnTo>
                  <a:pt x="10009363" y="0"/>
                </a:lnTo>
                <a:lnTo>
                  <a:pt x="10009363" y="8735443"/>
                </a:lnTo>
                <a:lnTo>
                  <a:pt x="0" y="873544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1137186">
            <a:off x="5056379" y="3007804"/>
            <a:ext cx="6317628" cy="162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5"/>
              </a:lnSpc>
            </a:pPr>
            <a:r>
              <a:rPr lang="en-US" sz="7122">
                <a:solidFill>
                  <a:srgbClr val="4F7BC7"/>
                </a:solidFill>
                <a:latin typeface="Fredoka"/>
                <a:ea typeface="Fredoka"/>
                <a:cs typeface="Fredoka"/>
                <a:sym typeface="Fredoka"/>
              </a:rPr>
              <a:t>FÖ FUNKCIÓK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433508" y="3828898"/>
            <a:ext cx="9049723" cy="4300221"/>
            <a:chOff x="0" y="0"/>
            <a:chExt cx="12066298" cy="5733628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911501" y="123692"/>
              <a:ext cx="2427473" cy="641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2"/>
                </a:lnSpc>
              </a:pPr>
              <a:r>
                <a:rPr lang="en-US" sz="2872">
                  <a:solidFill>
                    <a:srgbClr val="4F7BC7"/>
                  </a:solidFill>
                  <a:latin typeface="Jet"/>
                  <a:ea typeface="Jet"/>
                  <a:cs typeface="Jet"/>
                  <a:sym typeface="Jet"/>
                </a:rPr>
                <a:t>Hitelesítés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90500"/>
              <a:ext cx="789978" cy="765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78"/>
                </a:lnSpc>
              </a:pPr>
              <a:r>
                <a:rPr lang="en-US" sz="4716">
                  <a:solidFill>
                    <a:srgbClr val="4F7BC7"/>
                  </a:solidFill>
                  <a:latin typeface="Balabeloo"/>
                  <a:ea typeface="Balabeloo"/>
                  <a:cs typeface="Balabeloo"/>
                  <a:sym typeface="Balabeloo"/>
                </a:rPr>
                <a:t>1.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911501" y="1079297"/>
              <a:ext cx="11154797" cy="641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2"/>
                </a:lnSpc>
              </a:pPr>
              <a:r>
                <a:rPr lang="en-US" sz="2872">
                  <a:solidFill>
                    <a:srgbClr val="4F7BC7"/>
                  </a:solidFill>
                  <a:latin typeface="Jet"/>
                  <a:ea typeface="Jet"/>
                  <a:cs typeface="Jet"/>
                  <a:sym typeface="Jet"/>
                </a:rPr>
                <a:t>Jegyzetfeltöltés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1146105"/>
              <a:ext cx="789978" cy="765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78"/>
                </a:lnSpc>
              </a:pPr>
              <a:r>
                <a:rPr lang="en-US" sz="4716">
                  <a:solidFill>
                    <a:srgbClr val="4F7BC7"/>
                  </a:solidFill>
                  <a:latin typeface="Balabeloo"/>
                  <a:ea typeface="Balabeloo"/>
                  <a:cs typeface="Balabeloo"/>
                  <a:sym typeface="Balabeloo"/>
                </a:rPr>
                <a:t>2.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911501" y="2034902"/>
              <a:ext cx="5029426" cy="641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2"/>
                </a:lnSpc>
              </a:pPr>
              <a:r>
                <a:rPr lang="en-US" sz="2872">
                  <a:solidFill>
                    <a:srgbClr val="4F7BC7"/>
                  </a:solidFill>
                  <a:latin typeface="Jet"/>
                  <a:ea typeface="Jet"/>
                  <a:cs typeface="Jet"/>
                  <a:sym typeface="Jet"/>
                </a:rPr>
                <a:t>Keresés és szűrés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2101709"/>
              <a:ext cx="789978" cy="765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78"/>
                </a:lnSpc>
              </a:pPr>
              <a:r>
                <a:rPr lang="en-US" sz="4716">
                  <a:solidFill>
                    <a:srgbClr val="4F7BC7"/>
                  </a:solidFill>
                  <a:latin typeface="Balabeloo"/>
                  <a:ea typeface="Balabeloo"/>
                  <a:cs typeface="Balabeloo"/>
                  <a:sym typeface="Balabeloo"/>
                </a:rPr>
                <a:t>3.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911501" y="2990506"/>
              <a:ext cx="11154797" cy="641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2"/>
                </a:lnSpc>
              </a:pPr>
              <a:r>
                <a:rPr lang="en-US" sz="2872">
                  <a:solidFill>
                    <a:srgbClr val="4F7BC7"/>
                  </a:solidFill>
                  <a:latin typeface="Jet"/>
                  <a:ea typeface="Jet"/>
                  <a:cs typeface="Jet"/>
                  <a:sym typeface="Jet"/>
                </a:rPr>
                <a:t>Gyűjtemények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3057314"/>
              <a:ext cx="789978" cy="765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78"/>
                </a:lnSpc>
              </a:pPr>
              <a:r>
                <a:rPr lang="en-US" sz="4716">
                  <a:solidFill>
                    <a:srgbClr val="4F7BC7"/>
                  </a:solidFill>
                  <a:latin typeface="Balabeloo"/>
                  <a:ea typeface="Balabeloo"/>
                  <a:cs typeface="Balabeloo"/>
                  <a:sym typeface="Balabeloo"/>
                </a:rPr>
                <a:t>4.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911501" y="3946111"/>
              <a:ext cx="3909756" cy="641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2"/>
                </a:lnSpc>
              </a:pPr>
              <a:r>
                <a:rPr lang="en-US" sz="2872">
                  <a:solidFill>
                    <a:srgbClr val="4F7BC7"/>
                  </a:solidFill>
                  <a:latin typeface="Jet"/>
                  <a:ea typeface="Jet"/>
                  <a:cs typeface="Jet"/>
                  <a:sym typeface="Jet"/>
                </a:rPr>
                <a:t>Jegyzetkérések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4012919"/>
              <a:ext cx="789978" cy="765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78"/>
                </a:lnSpc>
              </a:pPr>
              <a:r>
                <a:rPr lang="en-US" sz="4716">
                  <a:solidFill>
                    <a:srgbClr val="4F7BC7"/>
                  </a:solidFill>
                  <a:latin typeface="Balabeloo"/>
                  <a:ea typeface="Balabeloo"/>
                  <a:cs typeface="Balabeloo"/>
                  <a:sym typeface="Balabeloo"/>
                </a:rPr>
                <a:t>5.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911501" y="4901716"/>
              <a:ext cx="11154797" cy="641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2"/>
                </a:lnSpc>
              </a:pPr>
              <a:r>
                <a:rPr lang="en-US" sz="2872">
                  <a:solidFill>
                    <a:srgbClr val="4F7BC7"/>
                  </a:solidFill>
                  <a:latin typeface="Jet"/>
                  <a:ea typeface="Jet"/>
                  <a:cs typeface="Jet"/>
                  <a:sym typeface="Jet"/>
                </a:rPr>
                <a:t>Hírfolyam és interakciók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4968524"/>
              <a:ext cx="789978" cy="765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78"/>
                </a:lnSpc>
              </a:pPr>
              <a:r>
                <a:rPr lang="en-US" sz="4716">
                  <a:solidFill>
                    <a:srgbClr val="4F7BC7"/>
                  </a:solidFill>
                  <a:latin typeface="Balabeloo"/>
                  <a:ea typeface="Balabeloo"/>
                  <a:cs typeface="Balabeloo"/>
                  <a:sym typeface="Balabeloo"/>
                </a:rPr>
                <a:t>6.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0332657" y="5143500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3" y="0"/>
                </a:lnTo>
                <a:lnTo>
                  <a:pt x="2857693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3497361">
            <a:off x="10379352" y="7365880"/>
            <a:ext cx="2129840" cy="2177346"/>
          </a:xfrm>
          <a:custGeom>
            <a:avLst/>
            <a:gdLst/>
            <a:ahLst/>
            <a:cxnLst/>
            <a:rect r="r" b="b" t="t" l="l"/>
            <a:pathLst>
              <a:path h="2177346" w="2129840">
                <a:moveTo>
                  <a:pt x="0" y="0"/>
                </a:moveTo>
                <a:lnTo>
                  <a:pt x="2129840" y="0"/>
                </a:lnTo>
                <a:lnTo>
                  <a:pt x="2129840" y="2177346"/>
                </a:lnTo>
                <a:lnTo>
                  <a:pt x="0" y="21773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036245" y="1430307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3232244" y="5979009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8" y="0"/>
                </a:lnTo>
                <a:lnTo>
                  <a:pt x="1517898" y="1906036"/>
                </a:lnTo>
                <a:lnTo>
                  <a:pt x="0" y="190603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3018317" y="2254367"/>
            <a:ext cx="1945753" cy="1985462"/>
          </a:xfrm>
          <a:custGeom>
            <a:avLst/>
            <a:gdLst/>
            <a:ahLst/>
            <a:cxnLst/>
            <a:rect r="r" b="b" t="t" l="l"/>
            <a:pathLst>
              <a:path h="1985462" w="1945753">
                <a:moveTo>
                  <a:pt x="0" y="0"/>
                </a:moveTo>
                <a:lnTo>
                  <a:pt x="1945752" y="0"/>
                </a:lnTo>
                <a:lnTo>
                  <a:pt x="1945752" y="1985462"/>
                </a:lnTo>
                <a:lnTo>
                  <a:pt x="0" y="19854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-1481483">
            <a:off x="119188" y="1906685"/>
            <a:ext cx="7431570" cy="98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7"/>
              </a:lnSpc>
            </a:pPr>
            <a:r>
              <a:rPr lang="en-US" sz="6035">
                <a:solidFill>
                  <a:srgbClr val="4F7BC7"/>
                </a:solidFill>
                <a:latin typeface="Fredoka"/>
                <a:ea typeface="Fredoka"/>
                <a:cs typeface="Fredoka"/>
                <a:sym typeface="Fredoka"/>
              </a:rPr>
              <a:t>FEJLESZTÉSI TERV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283928" y="4174911"/>
            <a:ext cx="4408295" cy="3157942"/>
            <a:chOff x="0" y="0"/>
            <a:chExt cx="5877727" cy="42105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77727" cy="4210590"/>
            </a:xfrm>
            <a:custGeom>
              <a:avLst/>
              <a:gdLst/>
              <a:ahLst/>
              <a:cxnLst/>
              <a:rect r="r" b="b" t="t" l="l"/>
              <a:pathLst>
                <a:path h="4210590" w="5877727">
                  <a:moveTo>
                    <a:pt x="0" y="0"/>
                  </a:moveTo>
                  <a:lnTo>
                    <a:pt x="5877727" y="0"/>
                  </a:lnTo>
                  <a:lnTo>
                    <a:pt x="5877727" y="4210590"/>
                  </a:lnTo>
                  <a:lnTo>
                    <a:pt x="0" y="4210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435437" y="1055552"/>
              <a:ext cx="4805869" cy="20423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</a:pPr>
              <a:r>
                <a:rPr lang="en-US" sz="2418">
                  <a:solidFill>
                    <a:srgbClr val="CAE8FF"/>
                  </a:solidFill>
                  <a:latin typeface="Jet"/>
                  <a:ea typeface="Jet"/>
                  <a:cs typeface="Jet"/>
                  <a:sym typeface="Jet"/>
                </a:rPr>
                <a:t>Projektidőszak: 11 hét</a:t>
              </a:r>
            </a:p>
            <a:p>
              <a:pPr algn="ctr">
                <a:lnSpc>
                  <a:spcPts val="2999"/>
                </a:lnSpc>
              </a:pPr>
              <a:r>
                <a:rPr lang="en-US" sz="2418">
                  <a:solidFill>
                    <a:srgbClr val="CAE8FF"/>
                  </a:solidFill>
                  <a:latin typeface="Jet"/>
                  <a:ea typeface="Jet"/>
                  <a:cs typeface="Jet"/>
                  <a:sym typeface="Jet"/>
                </a:rPr>
                <a:t>Frontend és Backend párhuzamos fejlesztése</a:t>
              </a:r>
            </a:p>
            <a:p>
              <a:pPr algn="ctr">
                <a:lnSpc>
                  <a:spcPts val="2999"/>
                </a:lnSpc>
              </a:pPr>
              <a:r>
                <a:rPr lang="en-US" sz="2418">
                  <a:solidFill>
                    <a:srgbClr val="CAE8FF"/>
                  </a:solidFill>
                  <a:latin typeface="Jet"/>
                  <a:ea typeface="Jet"/>
                  <a:cs typeface="Jet"/>
                  <a:sym typeface="Jet"/>
                </a:rPr>
                <a:t>Iteratív fejlesztési fázisok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153103" y="1028700"/>
            <a:ext cx="4906284" cy="4477944"/>
            <a:chOff x="0" y="0"/>
            <a:chExt cx="6541712" cy="5970592"/>
          </a:xfrm>
        </p:grpSpPr>
        <p:sp>
          <p:nvSpPr>
            <p:cNvPr name="Freeform 20" id="20"/>
            <p:cNvSpPr/>
            <p:nvPr/>
          </p:nvSpPr>
          <p:spPr>
            <a:xfrm flipH="false" flipV="false" rot="666813">
              <a:off x="425319" y="501918"/>
              <a:ext cx="5691074" cy="4966755"/>
            </a:xfrm>
            <a:custGeom>
              <a:avLst/>
              <a:gdLst/>
              <a:ahLst/>
              <a:cxnLst/>
              <a:rect r="r" b="b" t="t" l="l"/>
              <a:pathLst>
                <a:path h="4966755" w="5691074">
                  <a:moveTo>
                    <a:pt x="0" y="0"/>
                  </a:moveTo>
                  <a:lnTo>
                    <a:pt x="5691074" y="0"/>
                  </a:lnTo>
                  <a:lnTo>
                    <a:pt x="5691074" y="4966755"/>
                  </a:lnTo>
                  <a:lnTo>
                    <a:pt x="0" y="49667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167479" y="1747258"/>
              <a:ext cx="4350647" cy="2433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5"/>
                </a:lnSpc>
              </a:pPr>
              <a:r>
                <a:rPr lang="en-US" sz="2883">
                  <a:solidFill>
                    <a:srgbClr val="CAE8FF"/>
                  </a:solidFill>
                  <a:latin typeface="Jet"/>
                  <a:ea typeface="Jet"/>
                  <a:cs typeface="Jet"/>
                  <a:sym typeface="Jet"/>
                </a:rPr>
                <a:t>Részmodulok tervezése, módszerek kiválasztása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915802">
            <a:off x="10115009" y="5469384"/>
            <a:ext cx="5438910" cy="4370906"/>
          </a:xfrm>
          <a:custGeom>
            <a:avLst/>
            <a:gdLst/>
            <a:ahLst/>
            <a:cxnLst/>
            <a:rect r="r" b="b" t="t" l="l"/>
            <a:pathLst>
              <a:path h="4370906" w="5438910">
                <a:moveTo>
                  <a:pt x="0" y="0"/>
                </a:moveTo>
                <a:lnTo>
                  <a:pt x="5438910" y="0"/>
                </a:lnTo>
                <a:lnTo>
                  <a:pt x="5438910" y="4370906"/>
                </a:lnTo>
                <a:lnTo>
                  <a:pt x="0" y="437090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838735" y="6569315"/>
            <a:ext cx="4154289" cy="1667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5"/>
              </a:lnSpc>
            </a:pPr>
            <a:r>
              <a:rPr lang="en-US" sz="3456">
                <a:solidFill>
                  <a:srgbClr val="86B2F6"/>
                </a:solidFill>
                <a:latin typeface="Jet"/>
                <a:ea typeface="Jet"/>
                <a:cs typeface="Jet"/>
                <a:sym typeface="Jet"/>
              </a:rPr>
              <a:t>Feladatkörök és feladatok felosztása a csapatban</a:t>
            </a:r>
          </a:p>
        </p:txBody>
      </p:sp>
      <p:sp>
        <p:nvSpPr>
          <p:cNvPr name="Freeform 24" id="24"/>
          <p:cNvSpPr/>
          <p:nvPr/>
        </p:nvSpPr>
        <p:spPr>
          <a:xfrm flipH="false" flipV="true" rot="-945795">
            <a:off x="5045508" y="2952333"/>
            <a:ext cx="2372136" cy="670128"/>
          </a:xfrm>
          <a:custGeom>
            <a:avLst/>
            <a:gdLst/>
            <a:ahLst/>
            <a:cxnLst/>
            <a:rect r="r" b="b" t="t" l="l"/>
            <a:pathLst>
              <a:path h="670128" w="2372136">
                <a:moveTo>
                  <a:pt x="0" y="670128"/>
                </a:moveTo>
                <a:lnTo>
                  <a:pt x="2372136" y="670128"/>
                </a:lnTo>
                <a:lnTo>
                  <a:pt x="2372136" y="0"/>
                </a:lnTo>
                <a:lnTo>
                  <a:pt x="0" y="0"/>
                </a:lnTo>
                <a:lnTo>
                  <a:pt x="0" y="670128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true" rot="3509984">
            <a:off x="11648396" y="3993381"/>
            <a:ext cx="2372136" cy="670128"/>
          </a:xfrm>
          <a:custGeom>
            <a:avLst/>
            <a:gdLst/>
            <a:ahLst/>
            <a:cxnLst/>
            <a:rect r="r" b="b" t="t" l="l"/>
            <a:pathLst>
              <a:path h="670128" w="2372136">
                <a:moveTo>
                  <a:pt x="0" y="670129"/>
                </a:moveTo>
                <a:lnTo>
                  <a:pt x="2372135" y="670129"/>
                </a:lnTo>
                <a:lnTo>
                  <a:pt x="2372135" y="0"/>
                </a:lnTo>
                <a:lnTo>
                  <a:pt x="0" y="0"/>
                </a:lnTo>
                <a:lnTo>
                  <a:pt x="0" y="670129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720132" y="5864153"/>
            <a:ext cx="1032051" cy="1295954"/>
          </a:xfrm>
          <a:custGeom>
            <a:avLst/>
            <a:gdLst/>
            <a:ahLst/>
            <a:cxnLst/>
            <a:rect r="r" b="b" t="t" l="l"/>
            <a:pathLst>
              <a:path h="1295954" w="1032051">
                <a:moveTo>
                  <a:pt x="0" y="0"/>
                </a:moveTo>
                <a:lnTo>
                  <a:pt x="1032051" y="0"/>
                </a:lnTo>
                <a:lnTo>
                  <a:pt x="1032051" y="1295954"/>
                </a:lnTo>
                <a:lnTo>
                  <a:pt x="0" y="12959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785442" y="1136376"/>
            <a:ext cx="1106045" cy="1128617"/>
          </a:xfrm>
          <a:custGeom>
            <a:avLst/>
            <a:gdLst/>
            <a:ahLst/>
            <a:cxnLst/>
            <a:rect r="r" b="b" t="t" l="l"/>
            <a:pathLst>
              <a:path h="1128617" w="1106045">
                <a:moveTo>
                  <a:pt x="0" y="0"/>
                </a:moveTo>
                <a:lnTo>
                  <a:pt x="1106045" y="0"/>
                </a:lnTo>
                <a:lnTo>
                  <a:pt x="1106045" y="1128618"/>
                </a:lnTo>
                <a:lnTo>
                  <a:pt x="0" y="112861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611437" y="8345628"/>
            <a:ext cx="1279039" cy="1076718"/>
          </a:xfrm>
          <a:custGeom>
            <a:avLst/>
            <a:gdLst/>
            <a:ahLst/>
            <a:cxnLst/>
            <a:rect r="r" b="b" t="t" l="l"/>
            <a:pathLst>
              <a:path h="1076718" w="1279039">
                <a:moveTo>
                  <a:pt x="0" y="0"/>
                </a:moveTo>
                <a:lnTo>
                  <a:pt x="1279039" y="0"/>
                </a:lnTo>
                <a:lnTo>
                  <a:pt x="1279039" y="1076718"/>
                </a:lnTo>
                <a:lnTo>
                  <a:pt x="0" y="107671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-3497361">
            <a:off x="5553289" y="6395069"/>
            <a:ext cx="1356574" cy="1386833"/>
          </a:xfrm>
          <a:custGeom>
            <a:avLst/>
            <a:gdLst/>
            <a:ahLst/>
            <a:cxnLst/>
            <a:rect r="r" b="b" t="t" l="l"/>
            <a:pathLst>
              <a:path h="1386833" w="1356574">
                <a:moveTo>
                  <a:pt x="0" y="0"/>
                </a:moveTo>
                <a:lnTo>
                  <a:pt x="1356574" y="0"/>
                </a:lnTo>
                <a:lnTo>
                  <a:pt x="1356574" y="1386833"/>
                </a:lnTo>
                <a:lnTo>
                  <a:pt x="0" y="1386833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9683325">
            <a:off x="3132318" y="917142"/>
            <a:ext cx="10009363" cy="8735444"/>
          </a:xfrm>
          <a:custGeom>
            <a:avLst/>
            <a:gdLst/>
            <a:ahLst/>
            <a:cxnLst/>
            <a:rect r="r" b="b" t="t" l="l"/>
            <a:pathLst>
              <a:path h="8735444" w="10009363">
                <a:moveTo>
                  <a:pt x="0" y="0"/>
                </a:moveTo>
                <a:lnTo>
                  <a:pt x="10009363" y="0"/>
                </a:lnTo>
                <a:lnTo>
                  <a:pt x="10009363" y="8735443"/>
                </a:lnTo>
                <a:lnTo>
                  <a:pt x="0" y="873544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235305" y="2623367"/>
            <a:ext cx="4066128" cy="69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2"/>
              </a:lnSpc>
            </a:pPr>
            <a:r>
              <a:rPr lang="en-US" sz="4233">
                <a:solidFill>
                  <a:srgbClr val="4F7BC7"/>
                </a:solidFill>
                <a:latin typeface="Fredoka"/>
                <a:ea typeface="Fredoka"/>
                <a:cs typeface="Fredoka"/>
                <a:sym typeface="Fredoka"/>
              </a:rPr>
              <a:t>FELHASZNÁLT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18931" y="3577562"/>
            <a:ext cx="3184300" cy="497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2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Flutter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35305" y="3691962"/>
            <a:ext cx="592483" cy="52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8"/>
              </a:lnSpc>
            </a:pPr>
            <a:r>
              <a:rPr lang="en-US" sz="4716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1.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18931" y="4294266"/>
            <a:ext cx="8366098" cy="497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2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C# / .NET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35305" y="4408665"/>
            <a:ext cx="592483" cy="52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8"/>
              </a:lnSpc>
            </a:pPr>
            <a:r>
              <a:rPr lang="en-US" sz="4716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2.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18931" y="5010969"/>
            <a:ext cx="4215524" cy="497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2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GitHub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35305" y="5125369"/>
            <a:ext cx="592483" cy="52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8"/>
              </a:lnSpc>
            </a:pPr>
            <a:r>
              <a:rPr lang="en-US" sz="4716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3.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18931" y="5774443"/>
            <a:ext cx="8366098" cy="497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2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Dart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35305" y="5895094"/>
            <a:ext cx="592483" cy="52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8"/>
              </a:lnSpc>
            </a:pPr>
            <a:r>
              <a:rPr lang="en-US" sz="4716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4.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05725" y="6537916"/>
            <a:ext cx="2932317" cy="497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2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Docker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35305" y="6664819"/>
            <a:ext cx="592483" cy="52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8"/>
              </a:lnSpc>
            </a:pPr>
            <a:r>
              <a:rPr lang="en-US" sz="4716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5.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918931" y="7161080"/>
            <a:ext cx="8366098" cy="94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2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GitHub projects </a:t>
            </a:r>
          </a:p>
          <a:p>
            <a:pPr algn="l">
              <a:lnSpc>
                <a:spcPts val="3562"/>
              </a:lnSpc>
            </a:pPr>
            <a:r>
              <a:rPr lang="en-US" sz="2872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és GitHub actions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235305" y="7498352"/>
            <a:ext cx="592483" cy="52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8"/>
              </a:lnSpc>
            </a:pPr>
            <a:r>
              <a:rPr lang="en-US" sz="4716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6.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332657" y="5143500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3" y="0"/>
                </a:lnTo>
                <a:lnTo>
                  <a:pt x="2857693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3497361">
            <a:off x="10379352" y="7365880"/>
            <a:ext cx="2129840" cy="2177346"/>
          </a:xfrm>
          <a:custGeom>
            <a:avLst/>
            <a:gdLst/>
            <a:ahLst/>
            <a:cxnLst/>
            <a:rect r="r" b="b" t="t" l="l"/>
            <a:pathLst>
              <a:path h="2177346" w="2129840">
                <a:moveTo>
                  <a:pt x="0" y="0"/>
                </a:moveTo>
                <a:lnTo>
                  <a:pt x="2129840" y="0"/>
                </a:lnTo>
                <a:lnTo>
                  <a:pt x="2129840" y="2177346"/>
                </a:lnTo>
                <a:lnTo>
                  <a:pt x="0" y="21773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036245" y="1430307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3232244" y="5979009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8" y="0"/>
                </a:lnTo>
                <a:lnTo>
                  <a:pt x="1517898" y="1906036"/>
                </a:lnTo>
                <a:lnTo>
                  <a:pt x="0" y="190603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3018317" y="2254367"/>
            <a:ext cx="1945753" cy="1985462"/>
          </a:xfrm>
          <a:custGeom>
            <a:avLst/>
            <a:gdLst/>
            <a:ahLst/>
            <a:cxnLst/>
            <a:rect r="r" b="b" t="t" l="l"/>
            <a:pathLst>
              <a:path h="1985462" w="1945753">
                <a:moveTo>
                  <a:pt x="0" y="0"/>
                </a:moveTo>
                <a:lnTo>
                  <a:pt x="1945752" y="0"/>
                </a:lnTo>
                <a:lnTo>
                  <a:pt x="1945752" y="1985462"/>
                </a:lnTo>
                <a:lnTo>
                  <a:pt x="0" y="19854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979749">
            <a:off x="7501288" y="3553644"/>
            <a:ext cx="4405701" cy="738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2"/>
              </a:lnSpc>
            </a:pPr>
            <a:r>
              <a:rPr lang="en-US" sz="4233">
                <a:solidFill>
                  <a:srgbClr val="4F7BC7"/>
                </a:solidFill>
                <a:latin typeface="Fredoka"/>
                <a:ea typeface="Fredoka"/>
                <a:cs typeface="Fredoka"/>
                <a:sym typeface="Fredoka"/>
              </a:rPr>
              <a:t>TECHNOLÓGIÁK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301200">
            <a:off x="7757912" y="1350038"/>
            <a:ext cx="2598702" cy="3734692"/>
          </a:xfrm>
          <a:custGeom>
            <a:avLst/>
            <a:gdLst/>
            <a:ahLst/>
            <a:cxnLst/>
            <a:rect r="r" b="b" t="t" l="l"/>
            <a:pathLst>
              <a:path h="3734692" w="2598702">
                <a:moveTo>
                  <a:pt x="0" y="0"/>
                </a:moveTo>
                <a:lnTo>
                  <a:pt x="2598702" y="0"/>
                </a:lnTo>
                <a:lnTo>
                  <a:pt x="2598702" y="3734692"/>
                </a:lnTo>
                <a:lnTo>
                  <a:pt x="0" y="373469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301200">
            <a:off x="2070689" y="1849607"/>
            <a:ext cx="2598702" cy="3734692"/>
          </a:xfrm>
          <a:custGeom>
            <a:avLst/>
            <a:gdLst/>
            <a:ahLst/>
            <a:cxnLst/>
            <a:rect r="r" b="b" t="t" l="l"/>
            <a:pathLst>
              <a:path h="3734692" w="2598702">
                <a:moveTo>
                  <a:pt x="0" y="0"/>
                </a:moveTo>
                <a:lnTo>
                  <a:pt x="2598702" y="0"/>
                </a:lnTo>
                <a:lnTo>
                  <a:pt x="2598702" y="3734691"/>
                </a:lnTo>
                <a:lnTo>
                  <a:pt x="0" y="373469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301200">
            <a:off x="4908948" y="1600292"/>
            <a:ext cx="2598702" cy="3734692"/>
          </a:xfrm>
          <a:custGeom>
            <a:avLst/>
            <a:gdLst/>
            <a:ahLst/>
            <a:cxnLst/>
            <a:rect r="r" b="b" t="t" l="l"/>
            <a:pathLst>
              <a:path h="3734692" w="2598702">
                <a:moveTo>
                  <a:pt x="0" y="0"/>
                </a:moveTo>
                <a:lnTo>
                  <a:pt x="2598703" y="0"/>
                </a:lnTo>
                <a:lnTo>
                  <a:pt x="2598703" y="3734692"/>
                </a:lnTo>
                <a:lnTo>
                  <a:pt x="0" y="373469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1234923">
            <a:off x="1083491" y="7440438"/>
            <a:ext cx="5948804" cy="145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4"/>
              </a:lnSpc>
            </a:pPr>
            <a:r>
              <a:rPr lang="en-US" sz="8005">
                <a:solidFill>
                  <a:srgbClr val="4F7BC7"/>
                </a:solidFill>
                <a:latin typeface="Fredoka"/>
                <a:ea typeface="Fredoka"/>
                <a:cs typeface="Fredoka"/>
                <a:sym typeface="Fredoka"/>
              </a:rPr>
              <a:t>FRONTEND</a:t>
            </a:r>
          </a:p>
        </p:txBody>
      </p:sp>
      <p:sp>
        <p:nvSpPr>
          <p:cNvPr name="Freeform 19" id="19"/>
          <p:cNvSpPr/>
          <p:nvPr/>
        </p:nvSpPr>
        <p:spPr>
          <a:xfrm flipH="true" flipV="true" rot="-214887">
            <a:off x="8544255" y="5286102"/>
            <a:ext cx="7294254" cy="4777736"/>
          </a:xfrm>
          <a:custGeom>
            <a:avLst/>
            <a:gdLst/>
            <a:ahLst/>
            <a:cxnLst/>
            <a:rect r="r" b="b" t="t" l="l"/>
            <a:pathLst>
              <a:path h="4777736" w="7294254">
                <a:moveTo>
                  <a:pt x="7294254" y="4777736"/>
                </a:moveTo>
                <a:lnTo>
                  <a:pt x="0" y="4777736"/>
                </a:lnTo>
                <a:lnTo>
                  <a:pt x="0" y="0"/>
                </a:lnTo>
                <a:lnTo>
                  <a:pt x="7294254" y="0"/>
                </a:lnTo>
                <a:lnTo>
                  <a:pt x="7294254" y="4777736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-1128405">
            <a:off x="9331160" y="6012095"/>
            <a:ext cx="4962865" cy="185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03">
                <a:solidFill>
                  <a:srgbClr val="CAE8FF"/>
                </a:solidFill>
                <a:latin typeface="Jet"/>
                <a:ea typeface="Jet"/>
                <a:cs typeface="Jet"/>
                <a:sym typeface="Jet"/>
              </a:rPr>
              <a:t>Modern, letisztult, fiatalos</a:t>
            </a:r>
          </a:p>
          <a:p>
            <a:pPr algn="ctr">
              <a:lnSpc>
                <a:spcPts val="3599"/>
              </a:lnSpc>
            </a:pPr>
            <a:r>
              <a:rPr lang="en-US" sz="2903">
                <a:solidFill>
                  <a:srgbClr val="CAE8FF"/>
                </a:solidFill>
                <a:latin typeface="Jet"/>
                <a:ea typeface="Jet"/>
                <a:cs typeface="Jet"/>
                <a:sym typeface="Jet"/>
              </a:rPr>
              <a:t>Reszponzív</a:t>
            </a:r>
          </a:p>
          <a:p>
            <a:pPr algn="ctr">
              <a:lnSpc>
                <a:spcPts val="3599"/>
              </a:lnSpc>
            </a:pPr>
            <a:r>
              <a:rPr lang="en-US" sz="2903">
                <a:solidFill>
                  <a:srgbClr val="CAE8FF"/>
                </a:solidFill>
                <a:latin typeface="Jet"/>
                <a:ea typeface="Jet"/>
                <a:cs typeface="Jet"/>
                <a:sym typeface="Jet"/>
              </a:rPr>
              <a:t>Kék színvilág, konzisztens navigáció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4194971" y="5037813"/>
            <a:ext cx="1317582" cy="1109164"/>
          </a:xfrm>
          <a:custGeom>
            <a:avLst/>
            <a:gdLst/>
            <a:ahLst/>
            <a:cxnLst/>
            <a:rect r="r" b="b" t="t" l="l"/>
            <a:pathLst>
              <a:path h="1109164" w="1317582">
                <a:moveTo>
                  <a:pt x="0" y="0"/>
                </a:moveTo>
                <a:lnTo>
                  <a:pt x="1317582" y="0"/>
                </a:lnTo>
                <a:lnTo>
                  <a:pt x="1317582" y="1109164"/>
                </a:lnTo>
                <a:lnTo>
                  <a:pt x="0" y="110916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367781" y="6290395"/>
            <a:ext cx="1254163" cy="1279758"/>
          </a:xfrm>
          <a:custGeom>
            <a:avLst/>
            <a:gdLst/>
            <a:ahLst/>
            <a:cxnLst/>
            <a:rect r="r" b="b" t="t" l="l"/>
            <a:pathLst>
              <a:path h="1279758" w="1254163">
                <a:moveTo>
                  <a:pt x="0" y="0"/>
                </a:moveTo>
                <a:lnTo>
                  <a:pt x="1254164" y="0"/>
                </a:lnTo>
                <a:lnTo>
                  <a:pt x="1254164" y="1279758"/>
                </a:lnTo>
                <a:lnTo>
                  <a:pt x="0" y="12797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057263" y="5361486"/>
            <a:ext cx="986744" cy="1239062"/>
          </a:xfrm>
          <a:custGeom>
            <a:avLst/>
            <a:gdLst/>
            <a:ahLst/>
            <a:cxnLst/>
            <a:rect r="r" b="b" t="t" l="l"/>
            <a:pathLst>
              <a:path h="1239062" w="986744">
                <a:moveTo>
                  <a:pt x="0" y="0"/>
                </a:moveTo>
                <a:lnTo>
                  <a:pt x="986744" y="0"/>
                </a:lnTo>
                <a:lnTo>
                  <a:pt x="986744" y="1239062"/>
                </a:lnTo>
                <a:lnTo>
                  <a:pt x="0" y="12390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3497361">
            <a:off x="9466224" y="8192741"/>
            <a:ext cx="1412418" cy="1443921"/>
          </a:xfrm>
          <a:custGeom>
            <a:avLst/>
            <a:gdLst/>
            <a:ahLst/>
            <a:cxnLst/>
            <a:rect r="r" b="b" t="t" l="l"/>
            <a:pathLst>
              <a:path h="1443921" w="1412418">
                <a:moveTo>
                  <a:pt x="0" y="0"/>
                </a:moveTo>
                <a:lnTo>
                  <a:pt x="1412418" y="0"/>
                </a:lnTo>
                <a:lnTo>
                  <a:pt x="1412418" y="1443921"/>
                </a:lnTo>
                <a:lnTo>
                  <a:pt x="0" y="144392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972444">
            <a:off x="11844524" y="2110266"/>
            <a:ext cx="6327408" cy="1495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6"/>
              </a:lnSpc>
            </a:pPr>
            <a:r>
              <a:rPr lang="en-US" sz="9905">
                <a:solidFill>
                  <a:srgbClr val="4F7BC7"/>
                </a:solidFill>
                <a:latin typeface="Fredoka"/>
                <a:ea typeface="Fredoka"/>
                <a:cs typeface="Fredoka"/>
                <a:sym typeface="Fredoka"/>
              </a:rPr>
              <a:t>BACKEND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39013">
            <a:off x="4379909" y="2804391"/>
            <a:ext cx="8017618" cy="5743530"/>
          </a:xfrm>
          <a:custGeom>
            <a:avLst/>
            <a:gdLst/>
            <a:ahLst/>
            <a:cxnLst/>
            <a:rect r="r" b="b" t="t" l="l"/>
            <a:pathLst>
              <a:path h="5743530" w="8017618">
                <a:moveTo>
                  <a:pt x="0" y="0"/>
                </a:moveTo>
                <a:lnTo>
                  <a:pt x="8017618" y="0"/>
                </a:lnTo>
                <a:lnTo>
                  <a:pt x="8017618" y="5743529"/>
                </a:lnTo>
                <a:lnTo>
                  <a:pt x="0" y="574352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194752">
            <a:off x="5180712" y="3961880"/>
            <a:ext cx="6081902" cy="339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0693" indent="-385347" lvl="1">
              <a:lnSpc>
                <a:spcPts val="4426"/>
              </a:lnSpc>
              <a:buFont typeface="Arial"/>
              <a:buChar char="•"/>
            </a:pPr>
            <a:r>
              <a:rPr lang="en-US" sz="3569">
                <a:solidFill>
                  <a:srgbClr val="CAE8FF"/>
                </a:solidFill>
                <a:latin typeface="Jet"/>
                <a:ea typeface="Jet"/>
                <a:cs typeface="Jet"/>
                <a:sym typeface="Jet"/>
              </a:rPr>
              <a:t>Regisztráció és hitelesítés</a:t>
            </a:r>
          </a:p>
          <a:p>
            <a:pPr algn="l" marL="770693" indent="-385347" lvl="1">
              <a:lnSpc>
                <a:spcPts val="4426"/>
              </a:lnSpc>
              <a:buFont typeface="Arial"/>
              <a:buChar char="•"/>
            </a:pPr>
            <a:r>
              <a:rPr lang="en-US" sz="3569">
                <a:solidFill>
                  <a:srgbClr val="CAE8FF"/>
                </a:solidFill>
                <a:latin typeface="Jet"/>
                <a:ea typeface="Jet"/>
                <a:cs typeface="Jet"/>
                <a:sym typeface="Jet"/>
              </a:rPr>
              <a:t>Intézmények kezelése</a:t>
            </a:r>
          </a:p>
          <a:p>
            <a:pPr algn="l" marL="770693" indent="-385347" lvl="1">
              <a:lnSpc>
                <a:spcPts val="4426"/>
              </a:lnSpc>
              <a:buFont typeface="Arial"/>
              <a:buChar char="•"/>
            </a:pPr>
            <a:r>
              <a:rPr lang="en-US" sz="3569">
                <a:solidFill>
                  <a:srgbClr val="CAE8FF"/>
                </a:solidFill>
                <a:latin typeface="Jet"/>
                <a:ea typeface="Jet"/>
                <a:cs typeface="Jet"/>
                <a:sym typeface="Jet"/>
              </a:rPr>
              <a:t>Személyes beállítások</a:t>
            </a:r>
          </a:p>
          <a:p>
            <a:pPr algn="l" marL="770693" indent="-385347" lvl="1">
              <a:lnSpc>
                <a:spcPts val="4426"/>
              </a:lnSpc>
              <a:buFont typeface="Arial"/>
              <a:buChar char="•"/>
            </a:pPr>
            <a:r>
              <a:rPr lang="en-US" sz="3569">
                <a:solidFill>
                  <a:srgbClr val="CAE8FF"/>
                </a:solidFill>
                <a:latin typeface="Jet"/>
                <a:ea typeface="Jet"/>
                <a:cs typeface="Jet"/>
                <a:sym typeface="Jet"/>
              </a:rPr>
              <a:t>Tantárgykezelés</a:t>
            </a:r>
          </a:p>
          <a:p>
            <a:pPr algn="l" marL="770693" indent="-385347" lvl="1">
              <a:lnSpc>
                <a:spcPts val="4426"/>
              </a:lnSpc>
              <a:buFont typeface="Arial"/>
              <a:buChar char="•"/>
            </a:pPr>
            <a:r>
              <a:rPr lang="en-US" sz="3569">
                <a:solidFill>
                  <a:srgbClr val="CAE8FF"/>
                </a:solidFill>
                <a:latin typeface="Jet"/>
                <a:ea typeface="Jet"/>
                <a:cs typeface="Jet"/>
                <a:sym typeface="Jet"/>
              </a:rPr>
              <a:t>Felhasználói adatok és kapcsolatok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484775">
            <a:off x="10955910" y="6294180"/>
            <a:ext cx="2163625" cy="2207781"/>
          </a:xfrm>
          <a:custGeom>
            <a:avLst/>
            <a:gdLst/>
            <a:ahLst/>
            <a:cxnLst/>
            <a:rect r="r" b="b" t="t" l="l"/>
            <a:pathLst>
              <a:path h="2207781" w="2163625">
                <a:moveTo>
                  <a:pt x="0" y="0"/>
                </a:moveTo>
                <a:lnTo>
                  <a:pt x="2163625" y="0"/>
                </a:lnTo>
                <a:lnTo>
                  <a:pt x="2163625" y="2207781"/>
                </a:lnTo>
                <a:lnTo>
                  <a:pt x="0" y="22077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484775">
            <a:off x="5964357" y="2190983"/>
            <a:ext cx="2127877" cy="1791286"/>
          </a:xfrm>
          <a:custGeom>
            <a:avLst/>
            <a:gdLst/>
            <a:ahLst/>
            <a:cxnLst/>
            <a:rect r="r" b="b" t="t" l="l"/>
            <a:pathLst>
              <a:path h="1791286" w="2127877">
                <a:moveTo>
                  <a:pt x="0" y="0"/>
                </a:moveTo>
                <a:lnTo>
                  <a:pt x="2127877" y="0"/>
                </a:lnTo>
                <a:lnTo>
                  <a:pt x="2127877" y="1791286"/>
                </a:lnTo>
                <a:lnTo>
                  <a:pt x="0" y="179128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3982136">
            <a:off x="9937744" y="2472695"/>
            <a:ext cx="1468543" cy="1501299"/>
          </a:xfrm>
          <a:custGeom>
            <a:avLst/>
            <a:gdLst/>
            <a:ahLst/>
            <a:cxnLst/>
            <a:rect r="r" b="b" t="t" l="l"/>
            <a:pathLst>
              <a:path h="1501299" w="1468543">
                <a:moveTo>
                  <a:pt x="0" y="0"/>
                </a:moveTo>
                <a:lnTo>
                  <a:pt x="1468543" y="0"/>
                </a:lnTo>
                <a:lnTo>
                  <a:pt x="1468543" y="1501298"/>
                </a:lnTo>
                <a:lnTo>
                  <a:pt x="0" y="150129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484775">
            <a:off x="9800952" y="7490574"/>
            <a:ext cx="1774024" cy="2227655"/>
          </a:xfrm>
          <a:custGeom>
            <a:avLst/>
            <a:gdLst/>
            <a:ahLst/>
            <a:cxnLst/>
            <a:rect r="r" b="b" t="t" l="l"/>
            <a:pathLst>
              <a:path h="2227655" w="1774024">
                <a:moveTo>
                  <a:pt x="0" y="0"/>
                </a:moveTo>
                <a:lnTo>
                  <a:pt x="1774023" y="0"/>
                </a:lnTo>
                <a:lnTo>
                  <a:pt x="1774023" y="2227655"/>
                </a:lnTo>
                <a:lnTo>
                  <a:pt x="0" y="222765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181231">
            <a:off x="4772268" y="7332187"/>
            <a:ext cx="1238685" cy="574299"/>
          </a:xfrm>
          <a:custGeom>
            <a:avLst/>
            <a:gdLst/>
            <a:ahLst/>
            <a:cxnLst/>
            <a:rect r="r" b="b" t="t" l="l"/>
            <a:pathLst>
              <a:path h="574299" w="1238685">
                <a:moveTo>
                  <a:pt x="0" y="0"/>
                </a:moveTo>
                <a:lnTo>
                  <a:pt x="1238685" y="0"/>
                </a:lnTo>
                <a:lnTo>
                  <a:pt x="1238685" y="574299"/>
                </a:lnTo>
                <a:lnTo>
                  <a:pt x="0" y="57429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9683325">
            <a:off x="3132318" y="917142"/>
            <a:ext cx="10009363" cy="8735444"/>
          </a:xfrm>
          <a:custGeom>
            <a:avLst/>
            <a:gdLst/>
            <a:ahLst/>
            <a:cxnLst/>
            <a:rect r="r" b="b" t="t" l="l"/>
            <a:pathLst>
              <a:path h="8735444" w="10009363">
                <a:moveTo>
                  <a:pt x="0" y="0"/>
                </a:moveTo>
                <a:lnTo>
                  <a:pt x="10009363" y="0"/>
                </a:lnTo>
                <a:lnTo>
                  <a:pt x="10009363" y="8735443"/>
                </a:lnTo>
                <a:lnTo>
                  <a:pt x="0" y="873544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620121">
            <a:off x="5826613" y="3324121"/>
            <a:ext cx="4688663" cy="1235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5"/>
              </a:lnSpc>
            </a:pPr>
            <a:r>
              <a:rPr lang="en-US" sz="7122">
                <a:solidFill>
                  <a:srgbClr val="4F7BC7"/>
                </a:solidFill>
                <a:latin typeface="Fredoka"/>
                <a:ea typeface="Fredoka"/>
                <a:cs typeface="Fredoka"/>
                <a:sym typeface="Fredoka"/>
              </a:rPr>
              <a:t>HALADÁS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07094" y="4684417"/>
            <a:ext cx="3144913" cy="60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1"/>
              </a:lnSpc>
            </a:pPr>
            <a:r>
              <a:rPr lang="en-US" sz="3476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UI tervek kész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79641" y="4825928"/>
            <a:ext cx="717135" cy="63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2"/>
              </a:lnSpc>
            </a:pPr>
            <a:r>
              <a:rPr lang="en-US" sz="5708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1.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07094" y="5551907"/>
            <a:ext cx="10126233" cy="60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1"/>
              </a:lnSpc>
            </a:pPr>
            <a:r>
              <a:rPr lang="en-US" sz="3476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Backend logika alapjai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079641" y="5693418"/>
            <a:ext cx="717135" cy="63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2"/>
              </a:lnSpc>
            </a:pPr>
            <a:r>
              <a:rPr lang="en-US" sz="5708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2.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07094" y="6419397"/>
            <a:ext cx="5836186" cy="60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1"/>
              </a:lnSpc>
            </a:pPr>
            <a:r>
              <a:rPr lang="en-US" sz="3476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Bejelentkezés és regisztráció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79641" y="6560908"/>
            <a:ext cx="717135" cy="63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2"/>
              </a:lnSpc>
            </a:pPr>
            <a:r>
              <a:rPr lang="en-US" sz="5708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3.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07094" y="7286887"/>
            <a:ext cx="10126233" cy="60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1"/>
              </a:lnSpc>
            </a:pPr>
            <a:r>
              <a:rPr lang="en-US" sz="3476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Adatbázis terv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079641" y="7428398"/>
            <a:ext cx="717135" cy="63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2"/>
              </a:lnSpc>
            </a:pPr>
            <a:r>
              <a:rPr lang="en-US" sz="5708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4.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639314" y="3828244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3" y="0"/>
                </a:lnTo>
                <a:lnTo>
                  <a:pt x="2857693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-3497361">
            <a:off x="10379352" y="7365880"/>
            <a:ext cx="2129840" cy="2177346"/>
          </a:xfrm>
          <a:custGeom>
            <a:avLst/>
            <a:gdLst/>
            <a:ahLst/>
            <a:cxnLst/>
            <a:rect r="r" b="b" t="t" l="l"/>
            <a:pathLst>
              <a:path h="2177346" w="2129840">
                <a:moveTo>
                  <a:pt x="0" y="0"/>
                </a:moveTo>
                <a:lnTo>
                  <a:pt x="2129840" y="0"/>
                </a:lnTo>
                <a:lnTo>
                  <a:pt x="2129840" y="2177346"/>
                </a:lnTo>
                <a:lnTo>
                  <a:pt x="0" y="21773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036245" y="1430307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232244" y="5979009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8" y="0"/>
                </a:lnTo>
                <a:lnTo>
                  <a:pt x="1517898" y="1906036"/>
                </a:lnTo>
                <a:lnTo>
                  <a:pt x="0" y="190603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018317" y="2254367"/>
            <a:ext cx="1945753" cy="1985462"/>
          </a:xfrm>
          <a:custGeom>
            <a:avLst/>
            <a:gdLst/>
            <a:ahLst/>
            <a:cxnLst/>
            <a:rect r="r" b="b" t="t" l="l"/>
            <a:pathLst>
              <a:path h="1985462" w="1945753">
                <a:moveTo>
                  <a:pt x="0" y="0"/>
                </a:moveTo>
                <a:lnTo>
                  <a:pt x="1945752" y="0"/>
                </a:lnTo>
                <a:lnTo>
                  <a:pt x="1945752" y="1985462"/>
                </a:lnTo>
                <a:lnTo>
                  <a:pt x="0" y="19854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DAG2EI8eWbg</dc:identifier>
  <dcterms:modified xsi:type="dcterms:W3CDTF">2011-08-01T06:04:30Z</dcterms:modified>
  <cp:revision>1</cp:revision>
  <dc:title>Notesharing</dc:title>
</cp:coreProperties>
</file>